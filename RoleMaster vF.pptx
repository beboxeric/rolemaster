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64FF"/>
    <a:srgbClr val="C9A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2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over.jp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73824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73824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5DB8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岗位大师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3824" y="4114800"/>
            <a:ext cx="45720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473824" y="4343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AI，第一天就能上岗。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3824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 AI to work from day 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3824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CAPABILITY DELIVERY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5708A0F-432E-7D04-2E94-1F1874C1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0" t="4133" r="8219" b="5891"/>
          <a:stretch>
            <a:fillRect/>
          </a:stretch>
        </p:blipFill>
        <p:spPr>
          <a:xfrm>
            <a:off x="7456516" y="36576"/>
            <a:ext cx="4735179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OVERVIEW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AI，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第一天就能上岗。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 AI to work from day 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800" dirty="0">
              <a:solidFill>
                <a:srgbClr val="1664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69164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给它能做事的能力。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800" dirty="0">
              <a:solidFill>
                <a:srgbClr val="1664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691640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给它知道怎么做的知识。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1800" dirty="0">
              <a:solidFill>
                <a:srgbClr val="1664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9164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给它接得上你业务的接口。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 把这三件事，都为你做好了。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OVERVIEW · 为什么需要执岗包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三件事，缺一不可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AI Needs All Three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36576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838048" y="2743200"/>
            <a:ext cx="36576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838048" y="2743200"/>
            <a:ext cx="45720" cy="1005840"/>
          </a:xfrm>
          <a:prstGeom prst="rect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Shape 8"/>
          <p:cNvSpPr/>
          <p:nvPr/>
        </p:nvSpPr>
        <p:spPr>
          <a:xfrm>
            <a:off x="1353769" y="2999232"/>
            <a:ext cx="65837" cy="65837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1353769" y="3427171"/>
            <a:ext cx="65837" cy="65837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Shape 10"/>
          <p:cNvSpPr/>
          <p:nvPr/>
        </p:nvSpPr>
        <p:spPr>
          <a:xfrm>
            <a:off x="1139800" y="3213202"/>
            <a:ext cx="65837" cy="65837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Shape 11"/>
          <p:cNvSpPr/>
          <p:nvPr/>
        </p:nvSpPr>
        <p:spPr>
          <a:xfrm>
            <a:off x="1567739" y="3213202"/>
            <a:ext cx="65837" cy="65837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1189177" y="3048610"/>
            <a:ext cx="38405" cy="38405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1545793" y="3048610"/>
            <a:ext cx="38405" cy="38405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Shape 14"/>
          <p:cNvSpPr/>
          <p:nvPr/>
        </p:nvSpPr>
        <p:spPr>
          <a:xfrm>
            <a:off x="1189177" y="3405226"/>
            <a:ext cx="38405" cy="38405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1545793" y="3405226"/>
            <a:ext cx="38405" cy="38405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1211123" y="3070555"/>
            <a:ext cx="351130" cy="351130"/>
          </a:xfrm>
          <a:prstGeom prst="ellipse">
            <a:avLst/>
          </a:prstGeom>
          <a:ln w="2286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Shape 17"/>
          <p:cNvSpPr/>
          <p:nvPr/>
        </p:nvSpPr>
        <p:spPr>
          <a:xfrm>
            <a:off x="1315364" y="3174797"/>
            <a:ext cx="142646" cy="142646"/>
          </a:xfrm>
          <a:prstGeom prst="ellipse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Text 18"/>
          <p:cNvSpPr/>
          <p:nvPr/>
        </p:nvSpPr>
        <p:spPr>
          <a:xfrm>
            <a:off x="1752448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只有能力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没有知识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95648" y="27432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10048" y="2743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聪明，却不懂你的业务规则。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做错事、浪费时间。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8048" y="3931920"/>
            <a:ext cx="36576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Shape 22"/>
          <p:cNvSpPr/>
          <p:nvPr/>
        </p:nvSpPr>
        <p:spPr>
          <a:xfrm>
            <a:off x="838048" y="3931920"/>
            <a:ext cx="45720" cy="1005840"/>
          </a:xfrm>
          <a:prstGeom prst="rect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Shape 23"/>
          <p:cNvSpPr/>
          <p:nvPr/>
        </p:nvSpPr>
        <p:spPr>
          <a:xfrm>
            <a:off x="1112368" y="4297680"/>
            <a:ext cx="246888" cy="301752"/>
          </a:xfrm>
          <a:prstGeom prst="rect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6" name="Shape 24"/>
          <p:cNvSpPr/>
          <p:nvPr/>
        </p:nvSpPr>
        <p:spPr>
          <a:xfrm>
            <a:off x="1386688" y="4297680"/>
            <a:ext cx="246888" cy="301752"/>
          </a:xfrm>
          <a:prstGeom prst="rect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Shape 25"/>
          <p:cNvSpPr/>
          <p:nvPr/>
        </p:nvSpPr>
        <p:spPr>
          <a:xfrm>
            <a:off x="1372972" y="4297680"/>
            <a:ext cx="0" cy="301752"/>
          </a:xfrm>
          <a:prstGeom prst="line">
            <a:avLst/>
          </a:prstGeom>
          <a:noFill/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Text 26"/>
          <p:cNvSpPr/>
          <p:nvPr/>
        </p:nvSpPr>
        <p:spPr>
          <a:xfrm>
            <a:off x="1752448" y="3931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只有知识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没有能力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5648" y="39319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410048" y="3931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知道该做什么，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却没有动手执行的工具。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8048" y="5120640"/>
            <a:ext cx="36576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2" name="Shape 30"/>
          <p:cNvSpPr/>
          <p:nvPr/>
        </p:nvSpPr>
        <p:spPr>
          <a:xfrm>
            <a:off x="838048" y="5120640"/>
            <a:ext cx="45720" cy="1005840"/>
          </a:xfrm>
          <a:prstGeom prst="rect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/>
          <p:cNvSpPr/>
          <p:nvPr/>
        </p:nvSpPr>
        <p:spPr>
          <a:xfrm>
            <a:off x="1287932" y="5404104"/>
            <a:ext cx="0" cy="109728"/>
          </a:xfrm>
          <a:prstGeom prst="line">
            <a:avLst/>
          </a:prstGeom>
          <a:noFill/>
          <a:ln w="254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Shape 32"/>
          <p:cNvSpPr/>
          <p:nvPr/>
        </p:nvSpPr>
        <p:spPr>
          <a:xfrm>
            <a:off x="1414120" y="5404104"/>
            <a:ext cx="0" cy="109728"/>
          </a:xfrm>
          <a:prstGeom prst="line">
            <a:avLst/>
          </a:prstGeom>
          <a:noFill/>
          <a:ln w="254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5" name="Shape 33"/>
          <p:cNvSpPr/>
          <p:nvPr/>
        </p:nvSpPr>
        <p:spPr>
          <a:xfrm>
            <a:off x="1222096" y="5513832"/>
            <a:ext cx="274320" cy="164592"/>
          </a:xfrm>
          <a:prstGeom prst="rect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Shape 34"/>
          <p:cNvSpPr/>
          <p:nvPr/>
        </p:nvSpPr>
        <p:spPr>
          <a:xfrm>
            <a:off x="1359256" y="5678424"/>
            <a:ext cx="0" cy="164592"/>
          </a:xfrm>
          <a:prstGeom prst="line">
            <a:avLst/>
          </a:prstGeom>
          <a:noFill/>
          <a:ln w="254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7" name="Text 35"/>
          <p:cNvSpPr/>
          <p:nvPr/>
        </p:nvSpPr>
        <p:spPr>
          <a:xfrm>
            <a:off x="1752448" y="5120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有能力、有知识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没有接口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95648" y="5120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410048" y="5120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已准备好工作，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却进不了你的系统。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三者俱全，AI 才能真正上岗。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 · 产品架构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执岗包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我们的产品 = 能力 + 知识 + 接口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2288" y="2423160"/>
            <a:ext cx="3657600" cy="35204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472288" y="2423160"/>
            <a:ext cx="3657600" cy="54864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Shape 8"/>
          <p:cNvSpPr/>
          <p:nvPr/>
        </p:nvSpPr>
        <p:spPr>
          <a:xfrm>
            <a:off x="2262683" y="2683764"/>
            <a:ext cx="76810" cy="76810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2262683" y="3183026"/>
            <a:ext cx="76810" cy="76810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Shape 10"/>
          <p:cNvSpPr/>
          <p:nvPr/>
        </p:nvSpPr>
        <p:spPr>
          <a:xfrm>
            <a:off x="2013052" y="2933395"/>
            <a:ext cx="76810" cy="76810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Shape 11"/>
          <p:cNvSpPr/>
          <p:nvPr/>
        </p:nvSpPr>
        <p:spPr>
          <a:xfrm>
            <a:off x="2512314" y="2933395"/>
            <a:ext cx="76810" cy="76810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2070659" y="2741371"/>
            <a:ext cx="44806" cy="4480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2486711" y="2741371"/>
            <a:ext cx="44806" cy="4480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Shape 14"/>
          <p:cNvSpPr/>
          <p:nvPr/>
        </p:nvSpPr>
        <p:spPr>
          <a:xfrm>
            <a:off x="2070659" y="3157423"/>
            <a:ext cx="44806" cy="4480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2486711" y="3157423"/>
            <a:ext cx="44806" cy="4480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2096262" y="2766974"/>
            <a:ext cx="409651" cy="409651"/>
          </a:xfrm>
          <a:prstGeom prst="ellipse">
            <a:avLst/>
          </a:prstGeom>
          <a:ln w="2286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Shape 17"/>
          <p:cNvSpPr/>
          <p:nvPr/>
        </p:nvSpPr>
        <p:spPr>
          <a:xfrm>
            <a:off x="2217877" y="2888590"/>
            <a:ext cx="166421" cy="166421"/>
          </a:xfrm>
          <a:prstGeom prst="ellipse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Text 18"/>
          <p:cNvSpPr/>
          <p:nvPr/>
        </p:nvSpPr>
        <p:spPr>
          <a:xfrm>
            <a:off x="472288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2288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72488" y="425196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746608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能做的每一项动作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6608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 · 读取 · 计算 · 生成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筛查 · 发送 · 操作系统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做对账 · 写报告 · 出 PPT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67048" y="2423160"/>
            <a:ext cx="3657600" cy="35204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6" name="Shape 24"/>
          <p:cNvSpPr/>
          <p:nvPr/>
        </p:nvSpPr>
        <p:spPr>
          <a:xfrm>
            <a:off x="4267048" y="2423160"/>
            <a:ext cx="3657600" cy="54864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Shape 25"/>
          <p:cNvSpPr/>
          <p:nvPr/>
        </p:nvSpPr>
        <p:spPr>
          <a:xfrm>
            <a:off x="5775808" y="2811780"/>
            <a:ext cx="288036" cy="352044"/>
          </a:xfrm>
          <a:prstGeom prst="rect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Shape 26"/>
          <p:cNvSpPr/>
          <p:nvPr/>
        </p:nvSpPr>
        <p:spPr>
          <a:xfrm>
            <a:off x="6095848" y="2811780"/>
            <a:ext cx="288036" cy="352044"/>
          </a:xfrm>
          <a:prstGeom prst="rect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Shape 27"/>
          <p:cNvSpPr/>
          <p:nvPr/>
        </p:nvSpPr>
        <p:spPr>
          <a:xfrm>
            <a:off x="6079846" y="2811780"/>
            <a:ext cx="0" cy="352044"/>
          </a:xfrm>
          <a:prstGeom prst="line">
            <a:avLst/>
          </a:prstGeom>
          <a:noFill/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0" name="Text 28"/>
          <p:cNvSpPr/>
          <p:nvPr/>
        </p:nvSpPr>
        <p:spPr>
          <a:xfrm>
            <a:off x="4267048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267048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67248" y="425196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Text 31"/>
          <p:cNvSpPr/>
          <p:nvPr/>
        </p:nvSpPr>
        <p:spPr>
          <a:xfrm>
            <a:off x="4541368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 AI 工作的一本业务手册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41368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什么时候做什么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用哪个能力 · 按什么顺序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遵守哪些规则 · 踩什么红线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61808" y="2423160"/>
            <a:ext cx="3657600" cy="35204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Shape 34"/>
          <p:cNvSpPr/>
          <p:nvPr/>
        </p:nvSpPr>
        <p:spPr>
          <a:xfrm>
            <a:off x="8061808" y="2423160"/>
            <a:ext cx="3657600" cy="54864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7" name="Shape 35"/>
          <p:cNvSpPr/>
          <p:nvPr/>
        </p:nvSpPr>
        <p:spPr>
          <a:xfrm>
            <a:off x="9775393" y="2715768"/>
            <a:ext cx="0" cy="128016"/>
          </a:xfrm>
          <a:prstGeom prst="line">
            <a:avLst/>
          </a:prstGeom>
          <a:noFill/>
          <a:ln w="254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Shape 36"/>
          <p:cNvSpPr/>
          <p:nvPr/>
        </p:nvSpPr>
        <p:spPr>
          <a:xfrm>
            <a:off x="9922612" y="2715768"/>
            <a:ext cx="0" cy="128016"/>
          </a:xfrm>
          <a:prstGeom prst="line">
            <a:avLst/>
          </a:prstGeom>
          <a:noFill/>
          <a:ln w="254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9" name="Shape 37"/>
          <p:cNvSpPr/>
          <p:nvPr/>
        </p:nvSpPr>
        <p:spPr>
          <a:xfrm>
            <a:off x="9698584" y="2843784"/>
            <a:ext cx="320040" cy="192024"/>
          </a:xfrm>
          <a:prstGeom prst="rect">
            <a:avLst/>
          </a:prstGeom>
          <a:ln w="1905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0" name="Shape 38"/>
          <p:cNvSpPr/>
          <p:nvPr/>
        </p:nvSpPr>
        <p:spPr>
          <a:xfrm>
            <a:off x="9858604" y="3035808"/>
            <a:ext cx="0" cy="192024"/>
          </a:xfrm>
          <a:prstGeom prst="line">
            <a:avLst/>
          </a:prstGeom>
          <a:noFill/>
          <a:ln w="254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1" name="Text 39"/>
          <p:cNvSpPr/>
          <p:nvPr/>
        </p:nvSpPr>
        <p:spPr>
          <a:xfrm>
            <a:off x="8061808" y="3337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061808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62008" y="425196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4" name="Text 42"/>
          <p:cNvSpPr/>
          <p:nvPr/>
        </p:nvSpPr>
        <p:spPr>
          <a:xfrm>
            <a:off x="8336128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连入企业现有的系统与渠道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36128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 · OA · 财务系统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 · 邮箱 · 飞书 · 钉钉</a:t>
            </a:r>
            <a:endParaRPr lang="en-US" sz="12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SWIFT · 内部业务系统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能力让 AI 能做事，知识让它知道怎么做，接口让它在你的业务里跑起来。三者俱全，AI 就能上岗工作。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· 系统架构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在你的企业里如何工作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How RolePack Fits Into Your Stack</a:t>
            </a:r>
            <a:endParaRPr lang="en-US" sz="1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EA344E9-9B1F-75DF-75E2-C60CD877AB9C}"/>
              </a:ext>
            </a:extLst>
          </p:cNvPr>
          <p:cNvGrpSpPr/>
          <p:nvPr/>
        </p:nvGrpSpPr>
        <p:grpSpPr>
          <a:xfrm>
            <a:off x="548640" y="2231136"/>
            <a:ext cx="11094415" cy="4443984"/>
            <a:chOff x="548640" y="2606040"/>
            <a:chExt cx="11094415" cy="4069080"/>
          </a:xfrm>
        </p:grpSpPr>
        <p:sp>
          <p:nvSpPr>
            <p:cNvPr id="8" name="Shape 6"/>
            <p:cNvSpPr/>
            <p:nvPr/>
          </p:nvSpPr>
          <p:spPr>
            <a:xfrm>
              <a:off x="2895448" y="2606040"/>
              <a:ext cx="6400800" cy="777240"/>
            </a:xfrm>
            <a:prstGeom prst="rect">
              <a:avLst/>
            </a:prstGeom>
            <a:solidFill>
              <a:srgbClr val="F8F9FB"/>
            </a:solidFill>
            <a:ln w="10160">
              <a:solidFill>
                <a:srgbClr val="5B6675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9" name="Text 7"/>
            <p:cNvSpPr/>
            <p:nvPr/>
          </p:nvSpPr>
          <p:spPr>
            <a:xfrm>
              <a:off x="3169768" y="2697480"/>
              <a:ext cx="5852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64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业务用户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169768" y="3017520"/>
              <a:ext cx="5852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CFO · 合规总监 · 销售团队 · 业务部门……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924648" y="2697480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kern="0" spc="300" dirty="0">
                  <a:solidFill>
                    <a:srgbClr val="5B6675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END USERS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095848" y="3429000"/>
              <a:ext cx="0" cy="228600"/>
            </a:xfrm>
            <a:prstGeom prst="line">
              <a:avLst/>
            </a:prstGeom>
            <a:noFill/>
            <a:ln w="25400">
              <a:solidFill>
                <a:srgbClr val="5DB8E8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Shape 11"/>
            <p:cNvSpPr/>
            <p:nvPr/>
          </p:nvSpPr>
          <p:spPr>
            <a:xfrm rot="10800000">
              <a:off x="6031840" y="3611880"/>
              <a:ext cx="128016" cy="118872"/>
            </a:xfrm>
            <a:prstGeom prst="triangle">
              <a:avLst/>
            </a:prstGeom>
            <a:solidFill>
              <a:srgbClr val="5DB8E8"/>
            </a:solidFill>
            <a:ln w="12700">
              <a:solidFill>
                <a:srgbClr val="5DB8E8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Text 12"/>
            <p:cNvSpPr/>
            <p:nvPr/>
          </p:nvSpPr>
          <p:spPr>
            <a:xfrm>
              <a:off x="6233008" y="342900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自然语言对话 · 业务请求</a:t>
              </a:r>
              <a:endParaRPr lang="en-US" sz="10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981048" y="3749040"/>
              <a:ext cx="8229600" cy="1280160"/>
            </a:xfrm>
            <a:prstGeom prst="rect">
              <a:avLst/>
            </a:prstGeom>
            <a:solidFill>
              <a:srgbClr val="1664FF"/>
            </a:solidFill>
            <a:ln w="19050">
              <a:solidFill>
                <a:srgbClr val="5DB8E8"/>
              </a:solidFill>
              <a:prstDash val="solid"/>
            </a:ln>
          </p:spPr>
          <p:txBody>
            <a:bodyPr/>
            <a:lstStyle/>
            <a:p>
              <a:endParaRPr lang="en-HK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981048" y="3749040"/>
              <a:ext cx="8229600" cy="45720"/>
            </a:xfrm>
            <a:prstGeom prst="rect">
              <a:avLst/>
            </a:prstGeom>
            <a:solidFill>
              <a:srgbClr val="5DB8E8"/>
            </a:solidFill>
            <a:ln w="12700">
              <a:solidFill>
                <a:srgbClr val="5DB8E8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Text 15"/>
            <p:cNvSpPr/>
            <p:nvPr/>
          </p:nvSpPr>
          <p:spPr>
            <a:xfrm>
              <a:off x="2255368" y="3886200"/>
              <a:ext cx="30175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ArkClaw 智能体</a:t>
              </a:r>
              <a:endParaRPr lang="en-US" sz="15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272888" y="38862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chemeClr val="accent4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+</a:t>
              </a:r>
              <a:endParaRPr lang="en-US" sz="1800" dirty="0">
                <a:solidFill>
                  <a:schemeClr val="accent4"/>
                </a:solidFill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5638648" y="3886200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accent4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RolePack 执岗包</a:t>
              </a:r>
              <a:endParaRPr lang="en-US" sz="1500" dirty="0">
                <a:solidFill>
                  <a:schemeClr val="accent4"/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8656168" y="388620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EAF0F9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一体化交付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255368" y="4389120"/>
              <a:ext cx="2468880" cy="502920"/>
            </a:xfrm>
            <a:prstGeom prst="rect">
              <a:avLst/>
            </a:prstGeom>
            <a:solidFill>
              <a:srgbClr val="4080FF"/>
            </a:solidFill>
            <a:ln w="6350">
              <a:solidFill>
                <a:srgbClr val="1450C8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Text 20"/>
            <p:cNvSpPr/>
            <p:nvPr/>
          </p:nvSpPr>
          <p:spPr>
            <a:xfrm>
              <a:off x="2392528" y="4389120"/>
              <a:ext cx="7772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4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能力</a:t>
              </a:r>
              <a:endParaRPr lang="en-US" sz="1300" dirty="0">
                <a:solidFill>
                  <a:schemeClr val="accent4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3215488" y="4389120"/>
              <a:ext cx="14173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执行具体动作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861408" y="4389120"/>
              <a:ext cx="2468880" cy="502920"/>
            </a:xfrm>
            <a:prstGeom prst="rect">
              <a:avLst/>
            </a:prstGeom>
            <a:solidFill>
              <a:srgbClr val="4080FF"/>
            </a:solidFill>
            <a:ln w="6350">
              <a:solidFill>
                <a:srgbClr val="1450C8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Text 23"/>
            <p:cNvSpPr/>
            <p:nvPr/>
          </p:nvSpPr>
          <p:spPr>
            <a:xfrm>
              <a:off x="4998568" y="4389120"/>
              <a:ext cx="7772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4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知识</a:t>
              </a:r>
              <a:endParaRPr lang="en-US" sz="1300" dirty="0">
                <a:solidFill>
                  <a:schemeClr val="accent4"/>
                </a:solidFill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5821528" y="4389120"/>
              <a:ext cx="14173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业务工作手册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7467448" y="4389120"/>
              <a:ext cx="2468880" cy="502920"/>
            </a:xfrm>
            <a:prstGeom prst="rect">
              <a:avLst/>
            </a:prstGeom>
            <a:solidFill>
              <a:srgbClr val="4080FF"/>
            </a:solidFill>
            <a:ln w="6350">
              <a:solidFill>
                <a:srgbClr val="1450C8"/>
              </a:solidFill>
              <a:prstDash val="solid"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Text 26"/>
            <p:cNvSpPr/>
            <p:nvPr/>
          </p:nvSpPr>
          <p:spPr>
            <a:xfrm>
              <a:off x="7604608" y="4389120"/>
              <a:ext cx="7772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4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接口</a:t>
              </a:r>
              <a:endParaRPr lang="en-US" sz="1300" dirty="0">
                <a:solidFill>
                  <a:schemeClr val="accent4"/>
                </a:solidFill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8427568" y="4389120"/>
              <a:ext cx="14173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连入业务系统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095848" y="5074920"/>
              <a:ext cx="0" cy="228600"/>
            </a:xfrm>
            <a:prstGeom prst="line">
              <a:avLst/>
            </a:prstGeom>
            <a:noFill/>
            <a:ln w="25400">
              <a:solidFill>
                <a:srgbClr val="5DB8E8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31" name="Shape 29"/>
            <p:cNvSpPr/>
            <p:nvPr/>
          </p:nvSpPr>
          <p:spPr>
            <a:xfrm rot="10800000">
              <a:off x="6031840" y="5257800"/>
              <a:ext cx="128016" cy="118872"/>
            </a:xfrm>
            <a:prstGeom prst="triangle">
              <a:avLst/>
            </a:prstGeom>
            <a:solidFill>
              <a:srgbClr val="5DB8E8"/>
            </a:solidFill>
            <a:ln w="12700">
              <a:solidFill>
                <a:srgbClr val="5DB8E8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32" name="Text 30"/>
            <p:cNvSpPr/>
            <p:nvPr/>
          </p:nvSpPr>
          <p:spPr>
            <a:xfrm>
              <a:off x="6233008" y="507492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调用 · 读写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1981048" y="5440680"/>
              <a:ext cx="2560320" cy="777240"/>
            </a:xfrm>
            <a:prstGeom prst="rect">
              <a:avLst/>
            </a:prstGeom>
            <a:solidFill>
              <a:srgbClr val="F8F9FB"/>
            </a:solidFill>
            <a:ln w="7620">
              <a:solidFill>
                <a:srgbClr val="E5E8EE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34" name="Shape 32"/>
            <p:cNvSpPr/>
            <p:nvPr/>
          </p:nvSpPr>
          <p:spPr>
            <a:xfrm>
              <a:off x="1981048" y="5440680"/>
              <a:ext cx="45720" cy="777240"/>
            </a:xfrm>
            <a:prstGeom prst="rect">
              <a:avLst/>
            </a:prstGeom>
            <a:solidFill>
              <a:srgbClr val="5B6675"/>
            </a:solidFill>
            <a:ln w="12700">
              <a:solidFill>
                <a:srgbClr val="5B6675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35" name="Text 33"/>
            <p:cNvSpPr/>
            <p:nvPr/>
          </p:nvSpPr>
          <p:spPr>
            <a:xfrm>
              <a:off x="2163928" y="551383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64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业务系统</a:t>
              </a:r>
              <a:endParaRPr lang="en-US" sz="1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163928" y="58064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ERP · CRM · MES · OA</a:t>
              </a:r>
              <a:endParaRPr lang="en-US" sz="10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815688" y="5440680"/>
              <a:ext cx="2560320" cy="777240"/>
            </a:xfrm>
            <a:prstGeom prst="rect">
              <a:avLst/>
            </a:prstGeom>
            <a:solidFill>
              <a:srgbClr val="F8F9FB"/>
            </a:solidFill>
            <a:ln w="7620">
              <a:solidFill>
                <a:srgbClr val="E5E8EE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38" name="Shape 36"/>
            <p:cNvSpPr/>
            <p:nvPr/>
          </p:nvSpPr>
          <p:spPr>
            <a:xfrm>
              <a:off x="4815688" y="5440680"/>
              <a:ext cx="45720" cy="777240"/>
            </a:xfrm>
            <a:prstGeom prst="rect">
              <a:avLst/>
            </a:prstGeom>
            <a:solidFill>
              <a:srgbClr val="5B6675"/>
            </a:solidFill>
            <a:ln w="12700">
              <a:solidFill>
                <a:srgbClr val="5B6675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39" name="Text 37"/>
            <p:cNvSpPr/>
            <p:nvPr/>
          </p:nvSpPr>
          <p:spPr>
            <a:xfrm>
              <a:off x="4998568" y="551383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64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专业系统</a:t>
              </a:r>
              <a:endParaRPr lang="en-US" sz="1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998568" y="58064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财务 · 风险 · 合规库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650328" y="5440680"/>
              <a:ext cx="2560320" cy="777240"/>
            </a:xfrm>
            <a:prstGeom prst="rect">
              <a:avLst/>
            </a:prstGeom>
            <a:solidFill>
              <a:srgbClr val="F8F9FB"/>
            </a:solidFill>
            <a:ln w="7620">
              <a:solidFill>
                <a:srgbClr val="E5E8EE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42" name="Shape 40"/>
            <p:cNvSpPr/>
            <p:nvPr/>
          </p:nvSpPr>
          <p:spPr>
            <a:xfrm>
              <a:off x="7650328" y="5440680"/>
              <a:ext cx="45720" cy="777240"/>
            </a:xfrm>
            <a:prstGeom prst="rect">
              <a:avLst/>
            </a:prstGeom>
            <a:solidFill>
              <a:srgbClr val="5B6675"/>
            </a:solidFill>
            <a:ln w="12700">
              <a:solidFill>
                <a:srgbClr val="5B6675"/>
              </a:solidFill>
              <a:prstDash val="solid"/>
            </a:ln>
          </p:spPr>
          <p:txBody>
            <a:bodyPr/>
            <a:lstStyle/>
            <a:p>
              <a:endParaRPr lang="en-HK" sz="2000"/>
            </a:p>
          </p:txBody>
        </p:sp>
        <p:sp>
          <p:nvSpPr>
            <p:cNvPr id="43" name="Text 41"/>
            <p:cNvSpPr/>
            <p:nvPr/>
          </p:nvSpPr>
          <p:spPr>
            <a:xfrm>
              <a:off x="7833208" y="551383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64F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通讯渠道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7833208" y="58064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微信 · 邮箱 · 飞书 · 钉钉</a:t>
              </a:r>
              <a:endParaRPr lang="en-US" sz="10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48640" y="6400800"/>
              <a:ext cx="1109441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5B6675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企业现有系统与渠道 · 保留不变</a:t>
              </a:r>
              <a:endParaRPr lang="en-US" sz="12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ROLEPACKS · 已发布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现已发布的 4 个 RolePack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Available RolePacks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36576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4415" cy="777240"/>
          </a:xfrm>
          <a:prstGeom prst="rect">
            <a:avLst/>
          </a:prstGeom>
          <a:solidFill>
            <a:srgbClr val="F8F9FB"/>
          </a:solidFill>
          <a:ln w="508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864" cy="7772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Shape 8"/>
          <p:cNvSpPr/>
          <p:nvPr/>
        </p:nvSpPr>
        <p:spPr>
          <a:xfrm>
            <a:off x="852678" y="2747772"/>
            <a:ext cx="226314" cy="226314"/>
          </a:xfrm>
          <a:prstGeom prst="ellipse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1053846" y="2948940"/>
            <a:ext cx="150876" cy="150876"/>
          </a:xfrm>
          <a:prstGeom prst="line">
            <a:avLst/>
          </a:prstGeom>
          <a:noFill/>
          <a:ln w="254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1417320" y="25603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RP-KYC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670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客户尽职调查执岗包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KYC ROLEPACK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2560320"/>
            <a:ext cx="4785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完成开户、客户尽调、受益人穿透的全流程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4415" cy="777240"/>
          </a:xfrm>
          <a:prstGeom prst="rect">
            <a:avLst/>
          </a:prstGeom>
          <a:solidFill>
            <a:srgbClr val="F8F9FB"/>
          </a:solidFill>
          <a:ln w="508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" cy="7772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877824" y="3616452"/>
            <a:ext cx="251460" cy="226314"/>
          </a:xfrm>
          <a:prstGeom prst="rect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Shape 17"/>
          <p:cNvSpPr/>
          <p:nvPr/>
        </p:nvSpPr>
        <p:spPr>
          <a:xfrm>
            <a:off x="877824" y="3842766"/>
            <a:ext cx="125730" cy="150876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Shape 18"/>
          <p:cNvSpPr/>
          <p:nvPr/>
        </p:nvSpPr>
        <p:spPr>
          <a:xfrm>
            <a:off x="1129284" y="3842766"/>
            <a:ext cx="0" cy="150876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Shape 19"/>
          <p:cNvSpPr/>
          <p:nvPr/>
        </p:nvSpPr>
        <p:spPr>
          <a:xfrm>
            <a:off x="938174" y="3742182"/>
            <a:ext cx="50292" cy="50292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Shape 20"/>
          <p:cNvSpPr/>
          <p:nvPr/>
        </p:nvSpPr>
        <p:spPr>
          <a:xfrm>
            <a:off x="988466" y="3792474"/>
            <a:ext cx="90526" cy="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1417320" y="3429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RP-AML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35387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反洗钱执岗包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AML ROLEPACK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4785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完成交易监控、风险评级、监管政策跟踪的全流程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11094415" cy="777240"/>
          </a:xfrm>
          <a:prstGeom prst="rect">
            <a:avLst/>
          </a:prstGeom>
          <a:solidFill>
            <a:srgbClr val="F8F9FB"/>
          </a:solidFill>
          <a:ln w="508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54864" cy="7772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Shape 27"/>
          <p:cNvSpPr/>
          <p:nvPr/>
        </p:nvSpPr>
        <p:spPr>
          <a:xfrm>
            <a:off x="852678" y="4510278"/>
            <a:ext cx="301752" cy="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0" name="Shape 28"/>
          <p:cNvSpPr/>
          <p:nvPr/>
        </p:nvSpPr>
        <p:spPr>
          <a:xfrm>
            <a:off x="852678" y="4510278"/>
            <a:ext cx="125730" cy="176022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Shape 29"/>
          <p:cNvSpPr/>
          <p:nvPr/>
        </p:nvSpPr>
        <p:spPr>
          <a:xfrm>
            <a:off x="1154430" y="4510278"/>
            <a:ext cx="0" cy="176022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2" name="Shape 30"/>
          <p:cNvSpPr/>
          <p:nvPr/>
        </p:nvSpPr>
        <p:spPr>
          <a:xfrm>
            <a:off x="1003554" y="4686300"/>
            <a:ext cx="0" cy="150876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/>
          <p:cNvSpPr/>
          <p:nvPr/>
        </p:nvSpPr>
        <p:spPr>
          <a:xfrm>
            <a:off x="978408" y="4827118"/>
            <a:ext cx="50292" cy="50292"/>
          </a:xfrm>
          <a:prstGeom prst="ellipse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Text 32"/>
          <p:cNvSpPr/>
          <p:nvPr/>
        </p:nvSpPr>
        <p:spPr>
          <a:xfrm>
            <a:off x="1417320" y="42976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RP-SO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名单筛查执岗包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743200" y="4754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SANCTIONS OFFICER ROLEPACK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4297680"/>
            <a:ext cx="4785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完成开户、交易、地址三类场景的名单筛查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11094415" cy="777240"/>
          </a:xfrm>
          <a:prstGeom prst="rect">
            <a:avLst/>
          </a:prstGeom>
          <a:solidFill>
            <a:srgbClr val="F8F9FB"/>
          </a:solidFill>
          <a:ln w="508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9" name="Shape 37"/>
          <p:cNvSpPr/>
          <p:nvPr/>
        </p:nvSpPr>
        <p:spPr>
          <a:xfrm>
            <a:off x="548640" y="5166360"/>
            <a:ext cx="54864" cy="777240"/>
          </a:xfrm>
          <a:prstGeom prst="rect">
            <a:avLst/>
          </a:prstGeom>
          <a:solidFill>
            <a:srgbClr val="5B7C99"/>
          </a:solidFill>
          <a:ln w="1270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0" name="Shape 38"/>
          <p:cNvSpPr/>
          <p:nvPr/>
        </p:nvSpPr>
        <p:spPr>
          <a:xfrm>
            <a:off x="852678" y="5394046"/>
            <a:ext cx="100584" cy="100584"/>
          </a:xfrm>
          <a:prstGeom prst="ellipse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1" name="Shape 39"/>
          <p:cNvSpPr/>
          <p:nvPr/>
        </p:nvSpPr>
        <p:spPr>
          <a:xfrm>
            <a:off x="827532" y="5514746"/>
            <a:ext cx="150876" cy="176022"/>
          </a:xfrm>
          <a:prstGeom prst="rect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2" name="Shape 40"/>
          <p:cNvSpPr/>
          <p:nvPr/>
        </p:nvSpPr>
        <p:spPr>
          <a:xfrm>
            <a:off x="1028700" y="5394046"/>
            <a:ext cx="100584" cy="100584"/>
          </a:xfrm>
          <a:prstGeom prst="ellipse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3" name="Shape 41"/>
          <p:cNvSpPr/>
          <p:nvPr/>
        </p:nvSpPr>
        <p:spPr>
          <a:xfrm>
            <a:off x="1003554" y="5514746"/>
            <a:ext cx="150876" cy="176022"/>
          </a:xfrm>
          <a:prstGeom prst="rect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4" name="Text 42"/>
          <p:cNvSpPr/>
          <p:nvPr/>
        </p:nvSpPr>
        <p:spPr>
          <a:xfrm>
            <a:off x="1417320" y="5166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RP-FRONT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5276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业务前线执岗包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743200" y="5623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FRONTLINE ROLEPACK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5166360"/>
            <a:ext cx="4785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站在销售第一线，完成客户接待与项目跟进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RolePack 由能力 + 知识 + 接口三层封装而成。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· RP-KYC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74375" y="960120"/>
            <a:ext cx="411480" cy="411480"/>
          </a:xfrm>
          <a:prstGeom prst="ellipse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11140135" y="1325880"/>
            <a:ext cx="274320" cy="274320"/>
          </a:xfrm>
          <a:prstGeom prst="line">
            <a:avLst/>
          </a:prstGeom>
          <a:noFill/>
          <a:ln w="254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RP-KYC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客户尽职调查执岗包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KYC ROLEPACK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完成开户、客户尽调、受益人穿透的全流程。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48640" cy="27432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47228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28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28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47228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证照读取 OCR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活体检测 · 人脸识别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受益人多级穿透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图谱计算 · 对手方画像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证照真伪 AI 识别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6704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6704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6704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426704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KYC 全流程 SOP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受益人穿透深度规则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证照真伪判定标准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开户尽调风险偏好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异常处置 SOP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6180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6180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180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806180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开户系统 · 客户主数据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内部黑名单库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图谱数据源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全流程留痕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· RP-AML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820095" y="960120"/>
            <a:ext cx="457200" cy="411480"/>
          </a:xfrm>
          <a:prstGeom prst="rect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10820095" y="1371600"/>
            <a:ext cx="228600" cy="27432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Shape 5"/>
          <p:cNvSpPr/>
          <p:nvPr/>
        </p:nvSpPr>
        <p:spPr>
          <a:xfrm>
            <a:off x="11277295" y="1371600"/>
            <a:ext cx="0" cy="27432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10929823" y="1188720"/>
            <a:ext cx="91440" cy="9144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11021263" y="1280160"/>
            <a:ext cx="164592" cy="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RP-AML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反洗钱执岗包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AML ROLEPACK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完成交易监控、风险评级、监管政策跟踪的全流程。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48640" cy="27432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47228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228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228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 sz="1300"/>
          </a:p>
        </p:txBody>
      </p:sp>
      <p:sp>
        <p:nvSpPr>
          <p:cNvPr id="18" name="Text 16"/>
          <p:cNvSpPr/>
          <p:nvPr/>
        </p:nvSpPr>
        <p:spPr>
          <a:xfrm>
            <a:off x="47228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规则引擎 + CNN/LSTM 双模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异动归因 · AI 智审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智能报告生成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多维风险评级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动态调级 · BRRA 自评估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日度全球政策抓取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影响分析 · 智能研判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6704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6704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6704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 sz="1300"/>
          </a:p>
        </p:txBody>
      </p:sp>
      <p:sp>
        <p:nvSpPr>
          <p:cNvPr id="22" name="Text 20"/>
          <p:cNvSpPr/>
          <p:nvPr/>
        </p:nvSpPr>
        <p:spPr>
          <a:xfrm>
            <a:off x="426704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FATF 国际反洗钱标准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中国《反洗钱法》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香港 HKMA / SFC 监管要求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异动处置 SOP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误报申诉流程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250+ 国家与司法管辖区风险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6180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6180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180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 sz="1300"/>
          </a:p>
        </p:txBody>
      </p:sp>
      <p:sp>
        <p:nvSpPr>
          <p:cNvPr id="26" name="Text 24"/>
          <p:cNvSpPr/>
          <p:nvPr/>
        </p:nvSpPr>
        <p:spPr>
          <a:xfrm>
            <a:off x="806180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SWIFT · ISO 20022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CIPS · FPS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企业内部 ERP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风险大盘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全流程留痕审计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· RP-SO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74375" y="1005840"/>
            <a:ext cx="548640" cy="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10774375" y="1005840"/>
            <a:ext cx="228600" cy="32004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Shape 5"/>
          <p:cNvSpPr/>
          <p:nvPr/>
        </p:nvSpPr>
        <p:spPr>
          <a:xfrm>
            <a:off x="11323015" y="1005840"/>
            <a:ext cx="0" cy="32004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11048695" y="1325880"/>
            <a:ext cx="0" cy="274320"/>
          </a:xfrm>
          <a:prstGeom prst="line">
            <a:avLst/>
          </a:prstGeom>
          <a:noFill/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11002975" y="1581912"/>
            <a:ext cx="91440" cy="91440"/>
          </a:xfrm>
          <a:prstGeom prst="ellipse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名单筛查执岗包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SANCTIONS OFFICER ROLEPACK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完成开户、交易、地址三类场景的名单筛查。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48640" cy="27432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47228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228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228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47228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模糊匹配引擎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开户筛查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交易筛查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地址筛查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增量扫全量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RPA 自动化处理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6704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6704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6704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Text 20"/>
          <p:cNvSpPr/>
          <p:nvPr/>
        </p:nvSpPr>
        <p:spPr>
          <a:xfrm>
            <a:off x="426704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全球制裁名单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反洗钱 AML 名单库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反欺诈 Fraud 名单库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出口管制 Export Control 名单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误报申诉流程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6180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6180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180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6" name="Text 24"/>
          <p:cNvSpPr/>
          <p:nvPr/>
        </p:nvSpPr>
        <p:spPr>
          <a:xfrm>
            <a:off x="806180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SWIFT · ISO 20022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CIPS · FPS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内部交易系统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客户主数据</a:t>
            </a:r>
            <a:endParaRPr lang="en-US" sz="130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· RP-FRONT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74375" y="1033272"/>
            <a:ext cx="182880" cy="182880"/>
          </a:xfrm>
          <a:prstGeom prst="ellipse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10728655" y="1252728"/>
            <a:ext cx="274320" cy="320040"/>
          </a:xfrm>
          <a:prstGeom prst="rect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Shape 5"/>
          <p:cNvSpPr/>
          <p:nvPr/>
        </p:nvSpPr>
        <p:spPr>
          <a:xfrm>
            <a:off x="11094415" y="1033272"/>
            <a:ext cx="182880" cy="182880"/>
          </a:xfrm>
          <a:prstGeom prst="ellipse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11048695" y="1252728"/>
            <a:ext cx="274320" cy="320040"/>
          </a:xfrm>
          <a:prstGeom prst="rect">
            <a:avLst/>
          </a:prstGeom>
          <a:ln w="1905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RP-FRONT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业务前线执岗包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FRONTLINE ROLEPACK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站在销售第一线，完成客户接待与项目跟进。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48640" cy="27432"/>
          </a:xfrm>
          <a:prstGeom prst="rect">
            <a:avLst/>
          </a:prstGeom>
          <a:solidFill>
            <a:srgbClr val="5B7C99"/>
          </a:solidFill>
          <a:ln w="12700">
            <a:solidFill>
              <a:srgbClr val="5B7C99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47228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228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7C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228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47228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公司知识库自然语言问答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文档智能解析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行程信息提取 → 日历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餐厅订座信息生成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线上 / 线下会议邀请生成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文档库搜索与公开链接分享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项目看板 · AI 项目周报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会议录音转写与摘要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6704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6704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7C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704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Text 19"/>
          <p:cNvSpPr/>
          <p:nvPr/>
        </p:nvSpPr>
        <p:spPr>
          <a:xfrm>
            <a:off x="426704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公司产品 · 价格 · 保固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项目跟进 SOP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客户分享话术模板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答客边界规则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多语言切换规则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6180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61808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7C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61808" y="3822192"/>
            <a:ext cx="365760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Text 23"/>
          <p:cNvSpPr/>
          <p:nvPr/>
        </p:nvSpPr>
        <p:spPr>
          <a:xfrm>
            <a:off x="8061808" y="397764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通讯：微信 · WhatsApp · 邮箱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日历：iOS · Android · Outlook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会议：Zoom · Teams · 腾讯 · 钉钉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存储：Google Drive · 飞书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itchFamily="34" charset="-120"/>
              </a:rPr>
              <a:t>多语言：简中 · 繁中 · EN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ROADMAP · 即将推出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即将推出的 RolePack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Coming Soon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36576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441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7432" cy="548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RP-FIN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财务执岗包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FINANCE ROLEPACK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45775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即将推出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1109441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27432" cy="548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914400" y="3310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RP-SC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310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供应链执岗包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310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SUPPLY CHAIN ROLEPACK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45775" y="33101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即将推出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441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Shape 19"/>
          <p:cNvSpPr/>
          <p:nvPr/>
        </p:nvSpPr>
        <p:spPr>
          <a:xfrm>
            <a:off x="548640" y="3968496"/>
            <a:ext cx="27432" cy="548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RP-HR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9684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HR 招聘执岗包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39684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HR &amp; RECRUITING ROLEPACK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45775" y="39684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即将推出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626864"/>
            <a:ext cx="1109441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Shape 25"/>
          <p:cNvSpPr/>
          <p:nvPr/>
        </p:nvSpPr>
        <p:spPr>
          <a:xfrm>
            <a:off x="548640" y="4626864"/>
            <a:ext cx="27432" cy="548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Text 26"/>
          <p:cNvSpPr/>
          <p:nvPr/>
        </p:nvSpPr>
        <p:spPr>
          <a:xfrm>
            <a:off x="914400" y="46268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RP-LEGAL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4626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法务合同执岗包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40880" y="4626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LEGAL &amp; CONTRACTS ROLEPACK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45775" y="4626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即将推出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285232"/>
            <a:ext cx="1109441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/>
          <p:cNvSpPr/>
          <p:nvPr/>
        </p:nvSpPr>
        <p:spPr>
          <a:xfrm>
            <a:off x="548640" y="5285232"/>
            <a:ext cx="27432" cy="548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Text 32"/>
          <p:cNvSpPr/>
          <p:nvPr/>
        </p:nvSpPr>
        <p:spPr>
          <a:xfrm>
            <a:off x="914400" y="52852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RP-CS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0" y="5285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客户服务执岗包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5285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SERVICE ROLEPACK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45775" y="52852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即将推出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按同一三层架构（能力 + 知识 + 接口）持续封装。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INTEGRATION · 联合方案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与火山引擎 ArkClaw 的联合方案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 + ArkClaw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36576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840480" cy="33832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40480" cy="54864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ArkClaw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智能体底座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提供会思考、会执行、会学习的智能体大脑与手脚。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认知与对话能力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多模型自由切换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 7×24 在线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长期记忆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飞书等协同生态深度集成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840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2743200" cy="3383280"/>
          </a:xfrm>
          <a:prstGeom prst="rect">
            <a:avLst/>
          </a:prstGeom>
          <a:solidFill>
            <a:srgbClr val="EBF4FF"/>
          </a:solidFill>
          <a:ln w="889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2743200" cy="54864"/>
          </a:xfrm>
          <a:prstGeom prst="rect">
            <a:avLst/>
          </a:prstGeom>
          <a:solidFill>
            <a:srgbClr val="1450C8"/>
          </a:solidFill>
          <a:ln w="12700">
            <a:solidFill>
              <a:srgbClr val="1450C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51206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5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岗位胜任力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提供让智能体真正能上岗的岗位级业务能力。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4617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38404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66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8046720" y="2743200"/>
            <a:ext cx="3840480" cy="3383280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8046720" y="2743200"/>
            <a:ext cx="3840480" cy="54864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/>
          <p:nvPr/>
        </p:nvSpPr>
        <p:spPr>
          <a:xfrm>
            <a:off x="832104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一体化的岗位级 AI 方案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2104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DB8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即装即用 · 安全可控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一个合同、一体化交付、即装即用的岗位级数字员工方案。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4617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即可独立完成岗位工作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对接企业现有专业系统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全流程合规留痕、可审计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数据不出域、企业自主可控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企业拿到的是一个完整方案——不需要分别采购、自己拼装。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DEPLOYMENT · 部署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步部署，快速上岗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Four-Step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36576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540868" y="2834640"/>
            <a:ext cx="2606040" cy="3200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540868" y="2834640"/>
            <a:ext cx="2606040" cy="4572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815188" y="31089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15188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需求对接与选型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188" y="452628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815188" y="466344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企业根据岗位需求，从 RolePack 目录中选型对应产品，我们出具专属私有化落地方案。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75508" y="2834640"/>
            <a:ext cx="2606040" cy="3200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3375508" y="2834640"/>
            <a:ext cx="2606040" cy="4572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3649828" y="31089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649828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本地化适配开发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49828" y="452628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3649828" y="466344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 1 对 1 专属技术支持，基于企业内网环境与业务系统，完成 RolePack 的本地化适配。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0148" y="2834640"/>
            <a:ext cx="2606040" cy="3200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Shape 19"/>
          <p:cNvSpPr/>
          <p:nvPr/>
        </p:nvSpPr>
        <p:spPr>
          <a:xfrm>
            <a:off x="6210148" y="2834640"/>
            <a:ext cx="2606040" cy="4572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Text 20"/>
          <p:cNvSpPr/>
          <p:nvPr/>
        </p:nvSpPr>
        <p:spPr>
          <a:xfrm>
            <a:off x="6484468" y="31089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84468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私有化部署交付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4468" y="452628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Text 23"/>
          <p:cNvSpPr/>
          <p:nvPr/>
        </p:nvSpPr>
        <p:spPr>
          <a:xfrm>
            <a:off x="6484468" y="466344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将适配完成的 RolePack 部署到企业本地服务器或私有云环境，完成联调测试。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44788" y="2834640"/>
            <a:ext cx="2606040" cy="32004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Shape 25"/>
          <p:cNvSpPr/>
          <p:nvPr/>
        </p:nvSpPr>
        <p:spPr>
          <a:xfrm>
            <a:off x="9044788" y="2834640"/>
            <a:ext cx="2606040" cy="4572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Text 26"/>
          <p:cNvSpPr/>
          <p:nvPr/>
        </p:nvSpPr>
        <p:spPr>
          <a:xfrm>
            <a:off x="9319108" y="31089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9319108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上岗运行 · 持续服务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19108" y="4526280"/>
            <a:ext cx="4572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Text 29"/>
          <p:cNvSpPr/>
          <p:nvPr/>
        </p:nvSpPr>
        <p:spPr>
          <a:xfrm>
            <a:off x="9319108" y="466344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即可上岗工作。我们提供全年本地化运维、内容更新、效果优化等专属服务。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最快 1–2 周完成本地化部署，AI 即刻上岗工作。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64FF"/>
          </a:solidFill>
          <a:ln w="12700">
            <a:solidFill>
              <a:srgbClr val="1664FF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71055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DIFFERENTIATORS · 四大差异化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 RoleMaster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Four Reasons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36576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472288" y="2651760"/>
            <a:ext cx="548640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Shape 7"/>
          <p:cNvSpPr/>
          <p:nvPr/>
        </p:nvSpPr>
        <p:spPr>
          <a:xfrm>
            <a:off x="472288" y="2651760"/>
            <a:ext cx="45720" cy="1691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746608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956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完整一体化交付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9152" y="2889504"/>
            <a:ext cx="384048" cy="384048"/>
          </a:xfrm>
          <a:prstGeom prst="ellipse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Shape 11"/>
          <p:cNvSpPr/>
          <p:nvPr/>
        </p:nvSpPr>
        <p:spPr>
          <a:xfrm>
            <a:off x="5192420" y="3081528"/>
            <a:ext cx="71323" cy="71323"/>
          </a:xfrm>
          <a:prstGeom prst="line">
            <a:avLst/>
          </a:prstGeom>
          <a:noFill/>
          <a:ln w="254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5263744" y="3152851"/>
            <a:ext cx="120701" cy="0"/>
          </a:xfrm>
          <a:prstGeom prst="line">
            <a:avLst/>
          </a:prstGeom>
          <a:noFill/>
          <a:ln w="254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746608" y="3429000"/>
            <a:ext cx="493776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746608" y="3520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智能体底座 + 岗位胜任力 + 私有化部署，一个合同搞定。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2651760"/>
            <a:ext cx="548640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6233008" y="2651760"/>
            <a:ext cx="45720" cy="1691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6507328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3028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包装的深度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87304" y="2944368"/>
            <a:ext cx="329184" cy="54864"/>
          </a:xfrm>
          <a:prstGeom prst="rect">
            <a:avLst/>
          </a:prstGeom>
          <a:ln w="1651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2" name="Shape 20"/>
          <p:cNvSpPr/>
          <p:nvPr/>
        </p:nvSpPr>
        <p:spPr>
          <a:xfrm>
            <a:off x="10887304" y="3043123"/>
            <a:ext cx="329184" cy="54864"/>
          </a:xfrm>
          <a:prstGeom prst="rect">
            <a:avLst/>
          </a:prstGeom>
          <a:ln w="1651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10887304" y="3141878"/>
            <a:ext cx="329184" cy="54864"/>
          </a:xfrm>
          <a:prstGeom prst="rect">
            <a:avLst/>
          </a:prstGeom>
          <a:ln w="1651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Shape 22"/>
          <p:cNvSpPr/>
          <p:nvPr/>
        </p:nvSpPr>
        <p:spPr>
          <a:xfrm>
            <a:off x="6507328" y="3429000"/>
            <a:ext cx="493776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Text 23"/>
          <p:cNvSpPr/>
          <p:nvPr/>
        </p:nvSpPr>
        <p:spPr>
          <a:xfrm>
            <a:off x="6507328" y="3520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RolePack 都把能力、知识、接口三层全部预先封装好——不是工具堆叠，是岗位级方法论。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2288" y="4572000"/>
            <a:ext cx="548640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Shape 25"/>
          <p:cNvSpPr/>
          <p:nvPr/>
        </p:nvSpPr>
        <p:spPr>
          <a:xfrm>
            <a:off x="472288" y="4572000"/>
            <a:ext cx="45720" cy="1691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Text 26"/>
          <p:cNvSpPr/>
          <p:nvPr/>
        </p:nvSpPr>
        <p:spPr>
          <a:xfrm>
            <a:off x="746608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569568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大型企业级交付能力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54016" y="4809744"/>
            <a:ext cx="274320" cy="384048"/>
          </a:xfrm>
          <a:prstGeom prst="rect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1" name="Shape 29"/>
          <p:cNvSpPr/>
          <p:nvPr/>
        </p:nvSpPr>
        <p:spPr>
          <a:xfrm>
            <a:off x="5208880" y="4875581"/>
            <a:ext cx="43891" cy="43891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2" name="Shape 30"/>
          <p:cNvSpPr/>
          <p:nvPr/>
        </p:nvSpPr>
        <p:spPr>
          <a:xfrm>
            <a:off x="5307635" y="4875581"/>
            <a:ext cx="43891" cy="43891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/>
          <p:cNvSpPr/>
          <p:nvPr/>
        </p:nvSpPr>
        <p:spPr>
          <a:xfrm>
            <a:off x="5208880" y="4974336"/>
            <a:ext cx="43891" cy="43891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Shape 32"/>
          <p:cNvSpPr/>
          <p:nvPr/>
        </p:nvSpPr>
        <p:spPr>
          <a:xfrm>
            <a:off x="5307635" y="4974336"/>
            <a:ext cx="43891" cy="43891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5" name="Shape 33"/>
          <p:cNvSpPr/>
          <p:nvPr/>
        </p:nvSpPr>
        <p:spPr>
          <a:xfrm>
            <a:off x="5208880" y="5073091"/>
            <a:ext cx="43891" cy="43891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Shape 34"/>
          <p:cNvSpPr/>
          <p:nvPr/>
        </p:nvSpPr>
        <p:spPr>
          <a:xfrm>
            <a:off x="5307635" y="5073091"/>
            <a:ext cx="43891" cy="43891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7" name="Shape 35"/>
          <p:cNvSpPr/>
          <p:nvPr/>
        </p:nvSpPr>
        <p:spPr>
          <a:xfrm>
            <a:off x="746608" y="5349240"/>
            <a:ext cx="493776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Text 36"/>
          <p:cNvSpPr/>
          <p:nvPr/>
        </p:nvSpPr>
        <p:spPr>
          <a:xfrm>
            <a:off x="746608" y="5440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支持复杂集团化部署、多业务系统适配、私有化数据隔离、全流程合规留痕。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33008" y="4572000"/>
            <a:ext cx="548640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0" name="Shape 38"/>
          <p:cNvSpPr/>
          <p:nvPr/>
        </p:nvSpPr>
        <p:spPr>
          <a:xfrm>
            <a:off x="6233008" y="4572000"/>
            <a:ext cx="45720" cy="169164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1" name="Text 39"/>
          <p:cNvSpPr/>
          <p:nvPr/>
        </p:nvSpPr>
        <p:spPr>
          <a:xfrm>
            <a:off x="6507328" y="4754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450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330288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持续迭代的能力体系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887304" y="4837176"/>
            <a:ext cx="329184" cy="329184"/>
          </a:xfrm>
          <a:prstGeom prst="ellipse">
            <a:avLst/>
          </a:prstGeom>
          <a:ln w="1905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4" name="Shape 42"/>
          <p:cNvSpPr/>
          <p:nvPr/>
        </p:nvSpPr>
        <p:spPr>
          <a:xfrm rot="1800000">
            <a:off x="11145164" y="4782312"/>
            <a:ext cx="98755" cy="109728"/>
          </a:xfrm>
          <a:prstGeom prst="triangle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5" name="Shape 43"/>
          <p:cNvSpPr/>
          <p:nvPr/>
        </p:nvSpPr>
        <p:spPr>
          <a:xfrm>
            <a:off x="6507328" y="5349240"/>
            <a:ext cx="4937760" cy="13716"/>
          </a:xfrm>
          <a:prstGeom prst="rect">
            <a:avLst/>
          </a:prstGeom>
          <a:solidFill>
            <a:srgbClr val="E5E8EE"/>
          </a:solidFill>
          <a:ln w="12700">
            <a:solidFill>
              <a:srgbClr val="E5E8EE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6" name="Text 44"/>
          <p:cNvSpPr/>
          <p:nvPr/>
        </p:nvSpPr>
        <p:spPr>
          <a:xfrm>
            <a:off x="6507328" y="5440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RolePack 持续更新、行业政策同步、合规规则迭代——一次部署、长期受益。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0"/>
            <a:ext cx="36576" cy="6858000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" name="Text 1"/>
          <p:cNvSpPr/>
          <p:nvPr/>
        </p:nvSpPr>
        <p:spPr>
          <a:xfrm>
            <a:off x="118872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RoleMaster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1887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5DB8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岗位大师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88720" y="4160520"/>
            <a:ext cx="3657600" cy="18288"/>
          </a:xfrm>
          <a:prstGeom prst="rect">
            <a:avLst/>
          </a:prstGeom>
          <a:solidFill>
            <a:srgbClr val="5DB8E8"/>
          </a:solidFill>
          <a:ln w="12700">
            <a:solidFill>
              <a:srgbClr val="5DB8E8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1202436" y="44074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6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AI，第一天就能上岗。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5D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 AI to work from day one.</a:t>
            </a:r>
            <a:endParaRPr lang="en-US" sz="1300" dirty="0"/>
          </a:p>
        </p:txBody>
      </p:sp>
      <p:pic>
        <p:nvPicPr>
          <p:cNvPr id="9" name="Picture 8" descr="cover.jpg">
            <a:extLst>
              <a:ext uri="{FF2B5EF4-FFF2-40B4-BE49-F238E27FC236}">
                <a16:creationId xmlns:a16="http://schemas.microsoft.com/office/drawing/2014/main" id="{2004CA51-5D49-A80B-6396-3786A48573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9D6FD6-C5F2-48FC-AEE8-95BC2FB4B2D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1e02b7b-0779-46f8-8b12-640188d643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819</Words>
  <Application>Microsoft Office PowerPoint</Application>
  <PresentationFormat>Widescreen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微软雅黑</vt:lpstr>
      <vt:lpstr>微软雅黑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RoleMaster</dc:title>
  <dc:subject>PptxGenJS Presentation</dc:subject>
  <dc:creator>RoleMaster</dc:creator>
  <cp:lastModifiedBy>Rachel Chan</cp:lastModifiedBy>
  <cp:revision>4</cp:revision>
  <dcterms:created xsi:type="dcterms:W3CDTF">2026-04-29T03:03:59Z</dcterms:created>
  <dcterms:modified xsi:type="dcterms:W3CDTF">2026-04-29T10:20:52Z</dcterms:modified>
</cp:coreProperties>
</file>